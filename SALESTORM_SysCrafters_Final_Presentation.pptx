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SRI ESHWAR COLLEGE OF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9D7FF"/>
                </a:solidFill>
              </a:defRPr>
            </a:pPr>
            <a:r>
              <a:t>SYSCRAFTERS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SALESTORM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9D7FF"/>
                </a:solidFill>
              </a:defRPr>
            </a:pPr>
            <a:r>
              <a:t>Flash-Sale Distributed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t>10,000 simultaneous buyers  →  100 available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AAD2"/>
                </a:solidFill>
              </a:defRPr>
            </a:pPr>
            <a: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886200"/>
            <a:ext cx="88696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rPr dirty="0"/>
              <a:t>24AD157  |  Pranavi S</a:t>
            </a:r>
            <a:br>
              <a:rPr dirty="0"/>
            </a:br>
            <a:r>
              <a:rPr lang="en-US" dirty="0"/>
              <a:t>  </a:t>
            </a:r>
            <a:r>
              <a:rPr dirty="0"/>
              <a:t>24AD171  |  </a:t>
            </a:r>
            <a:r>
              <a:rPr dirty="0" err="1"/>
              <a:t>Raksanaa</a:t>
            </a:r>
            <a:r>
              <a:rPr dirty="0"/>
              <a:t> S</a:t>
            </a:r>
            <a:br>
              <a:rPr dirty="0"/>
            </a:br>
            <a:r>
              <a:rPr lang="en-US" dirty="0"/>
              <a:t>                  </a:t>
            </a:r>
            <a:r>
              <a:rPr dirty="0"/>
              <a:t>24AD306  |  </a:t>
            </a:r>
            <a:r>
              <a:rPr dirty="0" err="1"/>
              <a:t>Nashhath</a:t>
            </a:r>
            <a:r>
              <a:rPr dirty="0"/>
              <a:t> </a:t>
            </a:r>
            <a:r>
              <a:rPr dirty="0" err="1"/>
              <a:t>Nowfhil</a:t>
            </a:r>
            <a:r>
              <a:rPr dirty="0"/>
              <a:t> 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DD7"/>
                </a:solidFill>
              </a:defRPr>
            </a:pPr>
            <a:r>
              <a:t>Design-first distributed systems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7"/>
                </a:solidFill>
              </a:defRPr>
            </a:pPr>
            <a:r>
              <a:t>1.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Absorb the flash-sale burst without sacrificing inventory correctness.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83280" cy="132588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D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D5FB4"/>
                </a:solidFill>
              </a:defRPr>
            </a:pPr>
            <a:r>
              <a:t>10,000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Simultaneous purchase attempts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132588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DC872D"/>
                </a:solidFill>
              </a:defRPr>
            </a:pPr>
            <a:r>
              <a:t>100 units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Only 100 units available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383280" cy="132588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C3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C34141"/>
                </a:solidFill>
              </a:defRPr>
            </a:pPr>
            <a:r>
              <a:t>0 overselling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Inventory must never become negative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32D"/>
                </a:solidFill>
              </a:defRPr>
            </a:pPr>
            <a:r>
              <a:t>• Duplicate requests must not create duplicate reservations or charges.</a:t>
            </a:r>
          </a:p>
          <a:p>
            <a:pPr>
              <a:spcAft>
                <a:spcPts val="800"/>
              </a:spcAft>
              <a:defRPr sz="1800">
                <a:solidFill>
                  <a:srgbClr val="1E232D"/>
                </a:solidFill>
              </a:defRPr>
            </a:pPr>
            <a:r>
              <a:t>• Reservations must expire and release inventory.</a:t>
            </a:r>
          </a:p>
          <a:p>
            <a:pPr>
              <a:spcAft>
                <a:spcPts val="800"/>
              </a:spcAft>
              <a:defRPr sz="1800">
                <a:solidFill>
                  <a:srgbClr val="1E232D"/>
                </a:solidFill>
              </a:defRPr>
            </a:pPr>
            <a:r>
              <a:t>• Payment may succeed, fail or time out.</a:t>
            </a:r>
          </a:p>
          <a:p>
            <a:pPr>
              <a:spcAft>
                <a:spcPts val="800"/>
              </a:spcAft>
              <a:defRPr sz="1800">
                <a:solidFill>
                  <a:srgbClr val="1E232D"/>
                </a:solidFill>
              </a:defRPr>
            </a:pPr>
            <a:r>
              <a:t>• Successful payment must eventually produce a valid order.</a:t>
            </a:r>
          </a:p>
          <a:p>
            <a:pPr>
              <a:spcAft>
                <a:spcPts val="800"/>
              </a:spcAft>
              <a:defRPr sz="1800">
                <a:solidFill>
                  <a:srgbClr val="1E232D"/>
                </a:solidFill>
              </a:defRPr>
            </a:pPr>
            <a:r>
              <a:t>• Payment/order events must not be silently lost.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7"/>
                </a:solidFill>
              </a:defRPr>
            </a:pPr>
            <a:r>
              <a:t>2. Proposed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Scale at the edge; protect the strongly consistent inventory boundary.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508760" cy="73152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D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37"/>
                </a:solidFill>
              </a:defRPr>
            </a:pPr>
            <a:r>
              <a:t>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1417320"/>
            <a:ext cx="1508760" cy="73152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3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37"/>
                </a:solidFill>
              </a:defRPr>
            </a:pPr>
            <a:r>
              <a:t>Load Balancer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17320"/>
            <a:ext cx="1508760" cy="73152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D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37"/>
                </a:solidFill>
              </a:defRPr>
            </a:pPr>
            <a: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17320"/>
            <a:ext cx="1645920" cy="73152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37"/>
                </a:solidFill>
              </a:defRPr>
            </a:pPr>
            <a:r>
              <a:t>Admission /</a:t>
            </a:r>
            <a:br/>
            <a:r>
              <a:t>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417320"/>
            <a:ext cx="1645920" cy="73152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37"/>
                </a:solidFill>
              </a:defRPr>
            </a:pPr>
            <a:r>
              <a:t>Inventory</a:t>
            </a:r>
            <a:br/>
            <a:r>
              <a:t>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417320"/>
            <a:ext cx="1645920" cy="73152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C3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37"/>
                </a:solidFill>
              </a:defRPr>
            </a:pPr>
            <a:r>
              <a:t>SQL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1783080"/>
            <a:ext cx="320040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49039" y="1783080"/>
            <a:ext cx="411481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77840" y="1783080"/>
            <a:ext cx="411480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1783080"/>
            <a:ext cx="365760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46920" y="1783080"/>
            <a:ext cx="411480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2926080"/>
            <a:ext cx="3017520" cy="11430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3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3A0BE"/>
                </a:solidFill>
              </a:defRPr>
            </a:pPr>
            <a:r>
              <a:t>Redis / Cache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Fast product reads and admission support; not inventory authority.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2926080"/>
            <a:ext cx="3017520" cy="11430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DC872D"/>
                </a:solidFill>
              </a:defRPr>
            </a:pPr>
            <a:r>
              <a:t>Message Broker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Durable async delivery for payment, order, fulfilment and notifications.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926080"/>
            <a:ext cx="3017520" cy="11430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D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D5FB4"/>
                </a:solidFill>
              </a:defRPr>
            </a:pPr>
            <a:r>
              <a:t>Payment Provider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Idempotency/reference key and reconciliation.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709160"/>
            <a:ext cx="6675120" cy="9144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8915F"/>
                </a:solidFill>
              </a:defRPr>
            </a:pPr>
            <a:r>
              <a:t>Core principle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Scale the edge and queue; protect the SQL inventory write boundary.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7"/>
                </a:solidFill>
              </a:defRPr>
            </a:pPr>
            <a:r>
              <a:t>3. How We Prevent Overselling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The inventory operation is the final correctness boundary.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011680" cy="77724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D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E37"/>
                </a:solidFill>
              </a:defRPr>
            </a:pPr>
            <a:r>
              <a:t>Purchase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325880"/>
            <a:ext cx="2011680" cy="77724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E37"/>
                </a:solidFill>
              </a:defRPr>
            </a:pPr>
            <a:r>
              <a:t>Admission /</a:t>
            </a:r>
            <a:br/>
            <a:r>
              <a:t>Rate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325880"/>
            <a:ext cx="2148840" cy="77724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E37"/>
                </a:solidFill>
              </a:defRPr>
            </a:pPr>
            <a:r>
              <a:t>Inventory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325880"/>
            <a:ext cx="3108960" cy="77724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C3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E37"/>
                </a:solidFill>
              </a:defRPr>
            </a:pPr>
            <a:r>
              <a:t>Atomic SQL Conditional Update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1719072"/>
            <a:ext cx="320040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74920" y="1719072"/>
            <a:ext cx="320040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43800" y="1719072"/>
            <a:ext cx="365760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51560" y="2560320"/>
            <a:ext cx="100584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41E37"/>
                </a:solidFill>
                <a:latin typeface="Consolas"/>
              </a:defRPr>
            </a:pPr>
            <a:r>
              <a:t>UPDATE inventory</a:t>
            </a:r>
            <a:br/>
            <a:r>
              <a:t>SET available_quantity = available_quantity - :qty,</a:t>
            </a:r>
            <a:br/>
            <a:r>
              <a:t>    reserved_quantity = reserved_quantity + :qty</a:t>
            </a:r>
            <a:br/>
            <a:r>
              <a:t>WHERE product_id = :product_id AND available_quantity &gt;= :qty;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34840"/>
            <a:ext cx="3246120" cy="11430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8915F"/>
                </a:solidFill>
              </a:defRPr>
            </a:pPr>
            <a:r>
              <a:t>Concurrency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No application-side read → modify → write race.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4434840"/>
            <a:ext cx="3246120" cy="11430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C3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C34141"/>
                </a:solidFill>
              </a:defRPr>
            </a:pPr>
            <a:r>
              <a:t>Invariant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Successful reservations can never exceed 100.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434840"/>
            <a:ext cx="3246120" cy="11430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D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D5FB4"/>
                </a:solidFill>
              </a:defRPr>
            </a:pPr>
            <a:r>
              <a:t>Idempotency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Same key + same operation returns the existing result.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7"/>
                </a:solidFill>
              </a:defRPr>
            </a:pPr>
            <a:r>
              <a:t>4. Purchase → Payment →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Hybrid workflow: synchronous inventory result, asynchronous downstream recovery.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1828800" cy="196596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D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37"/>
                </a:solidFill>
              </a:defRPr>
            </a:pPr>
            <a:r>
              <a:t>1</a:t>
            </a:r>
            <a:br/>
            <a:r>
              <a:t>Reserve</a:t>
            </a:r>
            <a:br/>
            <a:r>
              <a:t>Temporary reservation</a:t>
            </a:r>
            <a:br/>
            <a:r>
              <a:t>with TTL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23160" y="2578608"/>
            <a:ext cx="457200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80360" y="1600200"/>
            <a:ext cx="1828800" cy="196596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37"/>
                </a:solidFill>
              </a:defRPr>
            </a:pPr>
            <a:r>
              <a:t>2</a:t>
            </a:r>
            <a:br/>
            <a:r>
              <a:t>Pay</a:t>
            </a:r>
            <a:br/>
            <a:r>
              <a:t>Idempotent payment</a:t>
            </a:r>
            <a:br/>
            <a:r>
              <a:t>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09160" y="2578608"/>
            <a:ext cx="457200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60" y="1600200"/>
            <a:ext cx="1828800" cy="196596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3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37"/>
                </a:solidFill>
              </a:defRPr>
            </a:pPr>
            <a:r>
              <a:t>3</a:t>
            </a:r>
            <a:br/>
            <a:r>
              <a:t>Event</a:t>
            </a:r>
            <a:br/>
            <a:r>
              <a:t>PaymentSucceeded</a:t>
            </a:r>
            <a:br/>
            <a:r>
              <a:t>via outbox/broker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95160" y="2578608"/>
            <a:ext cx="457200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52360" y="1600200"/>
            <a:ext cx="1828800" cy="196596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37"/>
                </a:solidFill>
              </a:defRPr>
            </a:pPr>
            <a:r>
              <a:t>4</a:t>
            </a:r>
            <a:br/>
            <a:r>
              <a:t>Order</a:t>
            </a:r>
            <a:br/>
            <a:r>
              <a:t>Create/update order</a:t>
            </a:r>
            <a:br/>
            <a:r>
              <a:t>idempotently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81160" y="2578608"/>
            <a:ext cx="457200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38360" y="1600200"/>
            <a:ext cx="1828800" cy="196596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14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37"/>
                </a:solidFill>
              </a:defRPr>
            </a:pPr>
            <a:r>
              <a:t>5</a:t>
            </a:r>
            <a:br/>
            <a:r>
              <a:t>Notify</a:t>
            </a:r>
            <a:br/>
            <a:r>
              <a:t>Customer status</a:t>
            </a:r>
            <a:br/>
            <a:r>
              <a:t>event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60520"/>
            <a:ext cx="4800600" cy="118872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C3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C34141"/>
                </a:solidFill>
              </a:defRPr>
            </a:pPr>
            <a:r>
              <a:t>Payment failure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Release the reservation; do not leave inventory permanently locked.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60520"/>
            <a:ext cx="4800600" cy="118872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DC872D"/>
                </a:solidFill>
              </a:defRPr>
            </a:pPr>
            <a:r>
              <a:t>Timeout / Order Service down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Reconcile by reference and retry durable events; never blindly create another charge.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7"/>
                </a:solidFill>
              </a:defRPr>
            </a:pPr>
            <a:r>
              <a:t>5. Reliability Under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Failures are expected; recovery is explicit.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2880360" cy="56692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DC872D"/>
                </a:solidFill>
              </a:defRPr>
            </a:pPr>
            <a:r>
              <a:t>Payment timeout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188720"/>
            <a:ext cx="7589520" cy="56692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DC872D"/>
                </a:solidFill>
              </a:defRPr>
            </a:pPr>
            <a:r>
              <a:t>Recovery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Reconcile using provider reference; safe retry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2880360" cy="56692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C3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C34141"/>
                </a:solidFill>
              </a:defRPr>
            </a:pPr>
            <a:r>
              <a:t>Payment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938528"/>
            <a:ext cx="7589520" cy="56692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C3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C34141"/>
                </a:solidFill>
              </a:defRPr>
            </a:pPr>
            <a:r>
              <a:t>Recovery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Release reservation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88336"/>
            <a:ext cx="2880360" cy="56692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D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D5FB4"/>
                </a:solidFill>
              </a:defRPr>
            </a:pPr>
            <a:r>
              <a:t>Order Service 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2688336"/>
            <a:ext cx="7589520" cy="56692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D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D5FB4"/>
                </a:solidFill>
              </a:defRPr>
            </a:pPr>
            <a:r>
              <a:t>Recovery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Durable PaymentSucceeded event waits in broker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38144"/>
            <a:ext cx="2880360" cy="56692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C3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C34141"/>
                </a:solidFill>
              </a:defRPr>
            </a:pPr>
            <a:r>
              <a:t>Consumer repeatedly fails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3438144"/>
            <a:ext cx="7589520" cy="56692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C3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C34141"/>
                </a:solidFill>
              </a:defRPr>
            </a:pPr>
            <a:r>
              <a:t>Recovery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Retry → Dead Letter 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87952"/>
            <a:ext cx="2880360" cy="56692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8915F"/>
                </a:solidFill>
              </a:defRPr>
            </a:pPr>
            <a:r>
              <a:t>Crash after DB commit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4187952"/>
            <a:ext cx="7589520" cy="56692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8915F"/>
                </a:solidFill>
              </a:defRPr>
            </a:pPr>
            <a:r>
              <a:t>Recovery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Transactional Outbox publishes later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937759"/>
            <a:ext cx="2880360" cy="56692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3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3A0BE"/>
                </a:solidFill>
              </a:defRPr>
            </a:pPr>
            <a:r>
              <a:t>Reservation expires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4937759"/>
            <a:ext cx="7589520" cy="56692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3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3A0BE"/>
                </a:solidFill>
              </a:defRPr>
            </a:pPr>
            <a:r>
              <a:t>Recovery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Indexed expiry worker releases atomically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7"/>
                </a:solidFill>
              </a:defRPr>
            </a:pPr>
            <a:r>
              <a:t>6. Database &amp; API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SQL is authoritative for correctness; APIs are explicit about idempotency and failure.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03520" cy="105156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D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D5FB4"/>
                </a:solidFill>
              </a:defRPr>
            </a:pPr>
            <a:r>
              <a:t>Core tables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Customer • Product • Inventory • Reservation • Order • Payment • Outbox Event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14600"/>
            <a:ext cx="5303520" cy="105156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8915F"/>
                </a:solidFill>
              </a:defRPr>
            </a:pPr>
            <a:r>
              <a:t>Constraints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PK/FK, unique idempotency keys, indexed expiry and outbox rows.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94760"/>
            <a:ext cx="5303520" cy="105156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3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3A0BE"/>
                </a:solidFill>
              </a:defRPr>
            </a:pPr>
            <a:r>
              <a:t>API examples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POST /reservations • POST /payments • GET /orders/{orderId}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105156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DC872D"/>
                </a:solidFill>
              </a:defRPr>
            </a:pPr>
            <a:r>
              <a:t>POST /reservations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Requires Idempotency-Key; explicit reservation/conflict/out-of-stock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514600"/>
            <a:ext cx="5212080" cy="105156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DC872D"/>
                </a:solidFill>
              </a:defRPr>
            </a:pPr>
            <a:r>
              <a:t>POST /payments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Requires Idempotency-Key; supports pending state and reconciliation.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794760"/>
            <a:ext cx="5212080" cy="105156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14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141E37"/>
                </a:solidFill>
              </a:defRPr>
            </a:pPr>
            <a:r>
              <a:t>Security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Bearer/JWT authentication, authorization, validation, TLS, rate limiting, audit logging.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7"/>
                </a:solidFill>
              </a:defRPr>
            </a:pPr>
            <a:r>
              <a:t>7. Scale Without Losing 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The inventory row is deliberately protected instead of exposed to unlimited writes.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83280" cy="13716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D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D5FB4"/>
                </a:solidFill>
              </a:defRPr>
            </a:pPr>
            <a:r>
              <a:t>Edge scaling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Load balancer + API Gateway + stateless replicas.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383280" cy="13716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DC872D"/>
                </a:solidFill>
              </a:defRPr>
            </a:pPr>
            <a:r>
              <a:t>Burst smoothing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Admission layer and queue control traffic to inventory.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25880"/>
            <a:ext cx="3383280" cy="13716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3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3A0BE"/>
                </a:solidFill>
              </a:defRPr>
            </a:pPr>
            <a:r>
              <a:t>Read scaling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Redis/cache supports product reads; SQL remains stock authority.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3383280" cy="13716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8915F"/>
                </a:solidFill>
              </a:defRPr>
            </a:pPr>
            <a:r>
              <a:t>Async scaling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Broker + independent consumers scale downstream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337560"/>
            <a:ext cx="3383280" cy="13716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C3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C34141"/>
                </a:solidFill>
              </a:defRPr>
            </a:pPr>
            <a:r>
              <a:t>Protection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Backoff + jitter and circuit breakers protect dependencies.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337560"/>
            <a:ext cx="3383280" cy="13716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14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141E37"/>
                </a:solidFill>
              </a:defRPr>
            </a:pPr>
            <a:r>
              <a:t>Observability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Metrics, logs, traces and alerts expose bottlenecks.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5257800"/>
            <a:ext cx="6492240" cy="77724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8915F"/>
                </a:solidFill>
              </a:defRPr>
            </a:pPr>
            <a:r>
              <a:t>Design rule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Do not scale the hot database row blindly; control access to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7"/>
                </a:solidFill>
              </a:defRPr>
            </a:pPr>
            <a:r>
              <a:t>8. Validation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Lightweight validation checks the most important correctness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13716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D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D5FB4"/>
                </a:solidFill>
              </a:defRPr>
            </a:pPr>
            <a:r>
              <a:t>Simulation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10,000 concurrent attempts against 100 units.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13716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28915F"/>
                </a:solidFill>
              </a:defRPr>
            </a:pPr>
            <a:r>
              <a:t>Expected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Reservations ≤ 100</a:t>
            </a:r>
            <a:br/>
            <a:r>
              <a:t>Remaining stock ≥ 0</a:t>
            </a:r>
            <a:br/>
            <a:r>
              <a:t>Stock + reservations =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383280" cy="137160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500" b="1">
                <a:solidFill>
                  <a:srgbClr val="DC872D"/>
                </a:solidFill>
              </a:defRPr>
            </a:pPr>
            <a:r>
              <a:t>Extended test</a:t>
            </a:r>
          </a:p>
          <a:p>
            <a:pPr>
              <a:spcBef>
                <a:spcPts val="500"/>
              </a:spcBef>
              <a:defRPr sz="1150">
                <a:solidFill>
                  <a:srgbClr val="1E232D"/>
                </a:solidFill>
              </a:defRPr>
            </a:pPr>
            <a:r>
              <a:t>Optional load test with duplicates, payment outcomes and Order Service outage.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32D"/>
                </a:solidFill>
              </a:defRPr>
            </a:pPr>
            <a:r>
              <a:t>• The simulation validates the core inventory invariant in a simplified environment.</a:t>
            </a:r>
          </a:p>
          <a:p>
            <a:pPr>
              <a:spcAft>
                <a:spcPts val="800"/>
              </a:spcAft>
              <a:defRPr sz="1700">
                <a:solidFill>
                  <a:srgbClr val="1E232D"/>
                </a:solidFill>
              </a:defRPr>
            </a:pPr>
            <a:r>
              <a:t>• It does not claim production throughput, broker durability, payment-provider behaviour or cloud availability.</a:t>
            </a:r>
          </a:p>
          <a:p>
            <a:pPr>
              <a:spcAft>
                <a:spcPts val="800"/>
              </a:spcAft>
              <a:defRPr sz="1700">
                <a:solidFill>
                  <a:srgbClr val="1E232D"/>
                </a:solidFill>
              </a:defRPr>
            </a:pPr>
            <a:r>
              <a:t>• AI-assisted artefacts are reviewed and tested by the team; architecture decisions remain human-owned.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Why SALESTORM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8D7"/>
                </a:solidFill>
              </a:defRPr>
            </a:pPr>
            <a:r>
              <a:t>A correctness-first architecture for a high-contention flash sale.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1325880"/>
          </a:xfrm>
          <a:prstGeom prst="roundRect">
            <a:avLst/>
          </a:prstGeom>
          <a:solidFill>
            <a:srgbClr val="232D46"/>
          </a:solidFill>
          <a:ln w="2540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915F"/>
                </a:solidFill>
              </a:defRPr>
            </a:pPr>
            <a:r>
              <a:t>NO OVERSELL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Atomic SQL reservation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463040"/>
            <a:ext cx="5166360" cy="1325880"/>
          </a:xfrm>
          <a:prstGeom prst="roundRect">
            <a:avLst/>
          </a:prstGeom>
          <a:solidFill>
            <a:srgbClr val="232D46"/>
          </a:solidFill>
          <a:ln w="25400">
            <a:solidFill>
              <a:srgbClr val="23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A0BE"/>
                </a:solidFill>
              </a:defRPr>
            </a:pPr>
            <a:r>
              <a:t>NO DUPLICATE CHARGE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Idempotency + reconciliation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166360" cy="1325880"/>
          </a:xfrm>
          <a:prstGeom prst="roundRect">
            <a:avLst/>
          </a:prstGeom>
          <a:solidFill>
            <a:srgbClr val="232D46"/>
          </a:solidFill>
          <a:ln w="25400"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DC872D"/>
                </a:solidFill>
              </a:defRPr>
            </a:pPr>
            <a:r>
              <a:t>NO SILENT EVENT LOSS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Transactional outbox + durable broker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3200400"/>
            <a:ext cx="5166360" cy="1325880"/>
          </a:xfrm>
          <a:prstGeom prst="roundRect">
            <a:avLst/>
          </a:prstGeom>
          <a:solidFill>
            <a:srgbClr val="232D46"/>
          </a:solidFill>
          <a:ln w="25400">
            <a:solidFill>
              <a:srgbClr val="2D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D5FB4"/>
                </a:solidFill>
              </a:defRPr>
            </a:pPr>
            <a:r>
              <a:t>RECOVERS FROM FAILURE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Retries + DLQ + compensation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21208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t>10,000 attempts  →  controlled admission  →  100 safe reservations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9D7FF"/>
                </a:solidFill>
              </a:defRPr>
            </a:pPr>
            <a:r>
              <a:t>SRI ESHWAR COLLEGE OF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BAAD2"/>
                </a:solidFill>
              </a:defRPr>
            </a:pPr>
            <a:r>
              <a:t>SYSCRAFTERS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9D7FF"/>
                </a:solidFill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0916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Pranavi S  •  Raksanaa S  •  Nashhath Nowfhil 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857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RAKSANAA S</cp:lastModifiedBy>
  <cp:revision>2</cp:revision>
  <dcterms:created xsi:type="dcterms:W3CDTF">2013-01-27T09:14:16Z</dcterms:created>
  <dcterms:modified xsi:type="dcterms:W3CDTF">2026-10-05T07:14:30Z</dcterms:modified>
  <cp:category/>
</cp:coreProperties>
</file>